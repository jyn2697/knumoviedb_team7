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6"/>
  </p:notesMasterIdLst>
  <p:sldIdLst>
    <p:sldId id="256" r:id="rId2"/>
    <p:sldId id="258" r:id="rId3"/>
    <p:sldId id="267" r:id="rId4"/>
    <p:sldId id="269" r:id="rId5"/>
    <p:sldId id="270" r:id="rId6"/>
    <p:sldId id="277" r:id="rId7"/>
    <p:sldId id="279" r:id="rId8"/>
    <p:sldId id="278" r:id="rId9"/>
    <p:sldId id="275" r:id="rId10"/>
    <p:sldId id="274" r:id="rId11"/>
    <p:sldId id="261" r:id="rId12"/>
    <p:sldId id="262" r:id="rId13"/>
    <p:sldId id="276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92" autoAdjust="0"/>
    <p:restoredTop sz="94660"/>
  </p:normalViewPr>
  <p:slideViewPr>
    <p:cSldViewPr>
      <p:cViewPr>
        <p:scale>
          <a:sx n="75" d="100"/>
          <a:sy n="75" d="100"/>
        </p:scale>
        <p:origin x="708" y="2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29E660-7154-496C-89BF-4F02B743A1E5}" type="datetimeFigureOut">
              <a:rPr lang="en-US" smtClean="0"/>
              <a:t>12/5/2020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383E-9E57-40E4-B784-4EE6D0CFC0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6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F18AAE0F-99B3-48D0-A046-5C3E92F5D84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Team 7: KNU Movie DB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Team members: </a:t>
            </a:r>
            <a:r>
              <a:rPr lang="en-US" dirty="0" err="1"/>
              <a:t>Hyeokchang</a:t>
            </a:r>
            <a:r>
              <a:rPr lang="en-US" dirty="0"/>
              <a:t> </a:t>
            </a:r>
            <a:r>
              <a:rPr lang="en-US" dirty="0" err="1"/>
              <a:t>Gwon</a:t>
            </a:r>
            <a:r>
              <a:rPr lang="en-US" dirty="0"/>
              <a:t>, </a:t>
            </a:r>
            <a:r>
              <a:rPr lang="en-US" dirty="0" err="1"/>
              <a:t>Juyeon</a:t>
            </a:r>
            <a:r>
              <a:rPr lang="en-US" dirty="0"/>
              <a:t> Kim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083181"/>
            <a:ext cx="4891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COMP322002 Introduction to Databases (Fall’20)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672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590800"/>
            <a:ext cx="7433733" cy="3953933"/>
          </a:xfrm>
        </p:spPr>
        <p:txBody>
          <a:bodyPr>
            <a:normAutofit/>
          </a:bodyPr>
          <a:lstStyle/>
          <a:p>
            <a:r>
              <a:rPr lang="en-US" dirty="0"/>
              <a:t>Individual Role </a:t>
            </a:r>
          </a:p>
          <a:p>
            <a:r>
              <a:rPr lang="en-US" dirty="0"/>
              <a:t>Project Description </a:t>
            </a:r>
          </a:p>
          <a:p>
            <a:pPr lvl="1"/>
            <a:r>
              <a:rPr lang="en-US" dirty="0"/>
              <a:t>Functionalities</a:t>
            </a:r>
          </a:p>
          <a:p>
            <a:pPr lvl="1"/>
            <a:r>
              <a:rPr lang="en-US" dirty="0"/>
              <a:t>Scenarios</a:t>
            </a:r>
          </a:p>
          <a:p>
            <a:pPr lvl="1"/>
            <a:r>
              <a:rPr lang="en-US" dirty="0"/>
              <a:t>Concurrency Control </a:t>
            </a:r>
          </a:p>
          <a:p>
            <a:pPr lvl="1"/>
            <a:r>
              <a:rPr lang="en-US" dirty="0"/>
              <a:t>Cool Features</a:t>
            </a:r>
          </a:p>
          <a:p>
            <a:pPr lvl="1"/>
            <a:r>
              <a:rPr lang="en-US" dirty="0"/>
              <a:t>Summary of Project Code</a:t>
            </a:r>
          </a:p>
          <a:p>
            <a:r>
              <a:rPr lang="en-US" dirty="0"/>
              <a:t>Demo</a:t>
            </a:r>
          </a:p>
          <a:p>
            <a:r>
              <a:rPr lang="en-US" dirty="0"/>
              <a:t>Lesson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60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Summary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4CF3BB-F7F0-4B5C-B7BB-56841B1B86E0}"/>
              </a:ext>
            </a:extLst>
          </p:cNvPr>
          <p:cNvSpPr txBox="1"/>
          <p:nvPr/>
        </p:nvSpPr>
        <p:spPr>
          <a:xfrm>
            <a:off x="668766" y="1874790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권혁창</a:t>
            </a:r>
            <a:endParaRPr lang="ko-KR" altLang="en-US" sz="28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E1669A-F090-467A-95E7-FE82144E2F2C}"/>
              </a:ext>
            </a:extLst>
          </p:cNvPr>
          <p:cNvSpPr txBox="1"/>
          <p:nvPr/>
        </p:nvSpPr>
        <p:spPr>
          <a:xfrm>
            <a:off x="7574316" y="5726943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김주연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73459AC-A876-49B3-BFDA-36C655BFF7D4}"/>
              </a:ext>
            </a:extLst>
          </p:cNvPr>
          <p:cNvCxnSpPr>
            <a:cxnSpLocks/>
          </p:cNvCxnSpPr>
          <p:nvPr/>
        </p:nvCxnSpPr>
        <p:spPr>
          <a:xfrm flipH="1">
            <a:off x="3276600" y="2426641"/>
            <a:ext cx="2514600" cy="38235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5E964B8-5062-41B0-AE64-9E44F216E928}"/>
              </a:ext>
            </a:extLst>
          </p:cNvPr>
          <p:cNvCxnSpPr>
            <a:cxnSpLocks/>
          </p:cNvCxnSpPr>
          <p:nvPr/>
        </p:nvCxnSpPr>
        <p:spPr>
          <a:xfrm>
            <a:off x="762000" y="2398010"/>
            <a:ext cx="34290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7A8B3FA-C9F4-4AF3-92EC-11D85542B290}"/>
              </a:ext>
            </a:extLst>
          </p:cNvPr>
          <p:cNvCxnSpPr>
            <a:cxnSpLocks/>
          </p:cNvCxnSpPr>
          <p:nvPr/>
        </p:nvCxnSpPr>
        <p:spPr>
          <a:xfrm>
            <a:off x="5257800" y="5667676"/>
            <a:ext cx="34290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C64AED25-4160-4CDA-8058-61289894465B}"/>
              </a:ext>
            </a:extLst>
          </p:cNvPr>
          <p:cNvGrpSpPr/>
          <p:nvPr/>
        </p:nvGrpSpPr>
        <p:grpSpPr>
          <a:xfrm>
            <a:off x="897467" y="2590800"/>
            <a:ext cx="3071573" cy="369332"/>
            <a:chOff x="897467" y="2535598"/>
            <a:chExt cx="3071573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B65F3EB-9622-4002-A16C-261987C838B6}"/>
                </a:ext>
              </a:extLst>
            </p:cNvPr>
            <p:cNvSpPr txBox="1"/>
            <p:nvPr/>
          </p:nvSpPr>
          <p:spPr>
            <a:xfrm>
              <a:off x="1207911" y="2535598"/>
              <a:ext cx="2761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ER diagram</a:t>
              </a: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90EFDB02-5A28-4240-A1CB-828EBD11C0FC}"/>
                </a:ext>
              </a:extLst>
            </p:cNvPr>
            <p:cNvSpPr/>
            <p:nvPr/>
          </p:nvSpPr>
          <p:spPr>
            <a:xfrm>
              <a:off x="897467" y="2600524"/>
              <a:ext cx="304800" cy="239479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41B9317-9F03-4C19-88B5-2C2E8537FFA8}"/>
              </a:ext>
            </a:extLst>
          </p:cNvPr>
          <p:cNvGrpSpPr/>
          <p:nvPr/>
        </p:nvGrpSpPr>
        <p:grpSpPr>
          <a:xfrm>
            <a:off x="914400" y="2962470"/>
            <a:ext cx="3071573" cy="369332"/>
            <a:chOff x="897467" y="2535598"/>
            <a:chExt cx="3071573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7B6F9A5-9FEC-46FC-B2DD-9D499A79D6BC}"/>
                </a:ext>
              </a:extLst>
            </p:cNvPr>
            <p:cNvSpPr txBox="1"/>
            <p:nvPr/>
          </p:nvSpPr>
          <p:spPr>
            <a:xfrm>
              <a:off x="1207911" y="2535598"/>
              <a:ext cx="2761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DB </a:t>
              </a:r>
              <a:r>
                <a:rPr lang="ko-KR" altLang="en-US" dirty="0"/>
                <a:t>생성</a:t>
              </a:r>
              <a:endParaRPr lang="en-US" altLang="ko-KR" dirty="0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E2EC177F-863B-4B40-9CFC-54B6184172EC}"/>
                </a:ext>
              </a:extLst>
            </p:cNvPr>
            <p:cNvSpPr/>
            <p:nvPr/>
          </p:nvSpPr>
          <p:spPr>
            <a:xfrm>
              <a:off x="897467" y="2600524"/>
              <a:ext cx="304800" cy="239479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7132E4C-7608-4026-93A3-02F1D6867AD0}"/>
              </a:ext>
            </a:extLst>
          </p:cNvPr>
          <p:cNvGrpSpPr/>
          <p:nvPr/>
        </p:nvGrpSpPr>
        <p:grpSpPr>
          <a:xfrm>
            <a:off x="914400" y="3331802"/>
            <a:ext cx="3071573" cy="369332"/>
            <a:chOff x="897467" y="2535598"/>
            <a:chExt cx="3071573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18A33EC-FAB5-4A1D-B862-A4187724DD85}"/>
                </a:ext>
              </a:extLst>
            </p:cNvPr>
            <p:cNvSpPr txBox="1"/>
            <p:nvPr/>
          </p:nvSpPr>
          <p:spPr>
            <a:xfrm>
              <a:off x="1207911" y="2535598"/>
              <a:ext cx="2761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JAVA</a:t>
              </a:r>
              <a:r>
                <a:rPr lang="ko-KR" altLang="en-US" dirty="0"/>
                <a:t> </a:t>
              </a:r>
              <a:r>
                <a:rPr lang="en-US" altLang="ko-KR" dirty="0"/>
                <a:t>Application</a:t>
              </a: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1146C331-3E1C-4819-93BD-DB6A6D489F75}"/>
                </a:ext>
              </a:extLst>
            </p:cNvPr>
            <p:cNvSpPr/>
            <p:nvPr/>
          </p:nvSpPr>
          <p:spPr>
            <a:xfrm>
              <a:off x="897467" y="2600524"/>
              <a:ext cx="304800" cy="239479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1DA7563B-D88F-46EA-8558-69735B13CA1E}"/>
              </a:ext>
            </a:extLst>
          </p:cNvPr>
          <p:cNvGrpSpPr/>
          <p:nvPr/>
        </p:nvGrpSpPr>
        <p:grpSpPr>
          <a:xfrm>
            <a:off x="897467" y="4393680"/>
            <a:ext cx="3071573" cy="369332"/>
            <a:chOff x="897467" y="2535598"/>
            <a:chExt cx="3071573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AD4DD25-C3E6-4B51-B640-4456EFD84CD4}"/>
                </a:ext>
              </a:extLst>
            </p:cNvPr>
            <p:cNvSpPr txBox="1"/>
            <p:nvPr/>
          </p:nvSpPr>
          <p:spPr>
            <a:xfrm>
              <a:off x="1207911" y="2535598"/>
              <a:ext cx="2761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JDBC</a:t>
              </a:r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86CF5F25-30F1-4299-B93E-D31BFA6A032F}"/>
                </a:ext>
              </a:extLst>
            </p:cNvPr>
            <p:cNvSpPr/>
            <p:nvPr/>
          </p:nvSpPr>
          <p:spPr>
            <a:xfrm>
              <a:off x="897467" y="2600524"/>
              <a:ext cx="304800" cy="239479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7F8DE44-E003-4EDC-8D2E-4C5BAB7878CC}"/>
              </a:ext>
            </a:extLst>
          </p:cNvPr>
          <p:cNvGrpSpPr/>
          <p:nvPr/>
        </p:nvGrpSpPr>
        <p:grpSpPr>
          <a:xfrm>
            <a:off x="6217252" y="2655337"/>
            <a:ext cx="2348296" cy="369332"/>
            <a:chOff x="5650218" y="3774642"/>
            <a:chExt cx="2348296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911F443-D69B-4637-9DD8-4FE96881629F}"/>
                </a:ext>
              </a:extLst>
            </p:cNvPr>
            <p:cNvSpPr txBox="1"/>
            <p:nvPr/>
          </p:nvSpPr>
          <p:spPr>
            <a:xfrm>
              <a:off x="5650218" y="3774642"/>
              <a:ext cx="2114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/>
                <a:t>ER diagram</a:t>
              </a: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86A3617E-6684-46AA-893D-9703DBBDFAF9}"/>
                </a:ext>
              </a:extLst>
            </p:cNvPr>
            <p:cNvSpPr/>
            <p:nvPr/>
          </p:nvSpPr>
          <p:spPr>
            <a:xfrm>
              <a:off x="7765058" y="3843054"/>
              <a:ext cx="233456" cy="239479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D08EB7AA-0D22-4275-AD27-2D0750E3F276}"/>
              </a:ext>
            </a:extLst>
          </p:cNvPr>
          <p:cNvGrpSpPr/>
          <p:nvPr/>
        </p:nvGrpSpPr>
        <p:grpSpPr>
          <a:xfrm>
            <a:off x="6217252" y="2983468"/>
            <a:ext cx="2348296" cy="369332"/>
            <a:chOff x="5650218" y="3774642"/>
            <a:chExt cx="2348296" cy="369332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C45BB05-2D48-4B5E-9790-B89174C11337}"/>
                </a:ext>
              </a:extLst>
            </p:cNvPr>
            <p:cNvSpPr txBox="1"/>
            <p:nvPr/>
          </p:nvSpPr>
          <p:spPr>
            <a:xfrm>
              <a:off x="5650218" y="3774642"/>
              <a:ext cx="2114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/>
                <a:t>DB </a:t>
              </a:r>
              <a:r>
                <a:rPr lang="ko-KR" altLang="en-US" dirty="0"/>
                <a:t>생성</a:t>
              </a:r>
              <a:endParaRPr lang="en-US" altLang="ko-KR" dirty="0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964AC1F1-99A5-47B8-84B6-304FCE48C8EA}"/>
                </a:ext>
              </a:extLst>
            </p:cNvPr>
            <p:cNvSpPr/>
            <p:nvPr/>
          </p:nvSpPr>
          <p:spPr>
            <a:xfrm>
              <a:off x="7765058" y="3843054"/>
              <a:ext cx="233456" cy="239479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B081C35-DFB6-47FD-87AE-AE29984CD3F5}"/>
              </a:ext>
            </a:extLst>
          </p:cNvPr>
          <p:cNvGrpSpPr/>
          <p:nvPr/>
        </p:nvGrpSpPr>
        <p:grpSpPr>
          <a:xfrm>
            <a:off x="6217252" y="3318570"/>
            <a:ext cx="2348296" cy="369332"/>
            <a:chOff x="5650218" y="3774642"/>
            <a:chExt cx="2348296" cy="369332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973E8CC-2F8D-4962-B5CE-0B5A7789E409}"/>
                </a:ext>
              </a:extLst>
            </p:cNvPr>
            <p:cNvSpPr txBox="1"/>
            <p:nvPr/>
          </p:nvSpPr>
          <p:spPr>
            <a:xfrm>
              <a:off x="5650218" y="3774642"/>
              <a:ext cx="2114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/>
                <a:t>JAVA</a:t>
              </a:r>
              <a:r>
                <a:rPr lang="ko-KR" altLang="en-US" dirty="0"/>
                <a:t> </a:t>
              </a:r>
              <a:r>
                <a:rPr lang="en-US" altLang="ko-KR" dirty="0"/>
                <a:t>Application</a:t>
              </a: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164263E-A374-4A4C-9A1E-2B12FD2FE89F}"/>
                </a:ext>
              </a:extLst>
            </p:cNvPr>
            <p:cNvSpPr/>
            <p:nvPr/>
          </p:nvSpPr>
          <p:spPr>
            <a:xfrm>
              <a:off x="7765058" y="3843054"/>
              <a:ext cx="233456" cy="239479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EB4930F-084C-4B79-97B8-39FC6B58F7EA}"/>
              </a:ext>
            </a:extLst>
          </p:cNvPr>
          <p:cNvGrpSpPr/>
          <p:nvPr/>
        </p:nvGrpSpPr>
        <p:grpSpPr>
          <a:xfrm>
            <a:off x="6217252" y="4431359"/>
            <a:ext cx="2348296" cy="369332"/>
            <a:chOff x="5650218" y="3774642"/>
            <a:chExt cx="2348296" cy="36933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704D502-D04F-434C-963C-A18E056EE572}"/>
                </a:ext>
              </a:extLst>
            </p:cNvPr>
            <p:cNvSpPr txBox="1"/>
            <p:nvPr/>
          </p:nvSpPr>
          <p:spPr>
            <a:xfrm>
              <a:off x="5650218" y="3774642"/>
              <a:ext cx="2114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dirty="0"/>
                <a:t>JDBC</a:t>
              </a: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B30110E2-0E1A-415E-95C3-813A471A780E}"/>
                </a:ext>
              </a:extLst>
            </p:cNvPr>
            <p:cNvSpPr/>
            <p:nvPr/>
          </p:nvSpPr>
          <p:spPr>
            <a:xfrm>
              <a:off x="7765058" y="3843054"/>
              <a:ext cx="233456" cy="239479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solidFill>
                <a:schemeClr val="tx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D820DDB0-9E95-484C-86E7-8364972E8C17}"/>
              </a:ext>
            </a:extLst>
          </p:cNvPr>
          <p:cNvSpPr txBox="1"/>
          <p:nvPr/>
        </p:nvSpPr>
        <p:spPr>
          <a:xfrm>
            <a:off x="1419080" y="3718567"/>
            <a:ext cx="21148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회원가입</a:t>
            </a:r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 err="1"/>
              <a:t>메인화면</a:t>
            </a:r>
            <a:endParaRPr lang="ko-KR" altLang="en-US" sz="15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3E776D-B55E-4A62-A00D-C8B7A65585C2}"/>
              </a:ext>
            </a:extLst>
          </p:cNvPr>
          <p:cNvSpPr txBox="1"/>
          <p:nvPr/>
        </p:nvSpPr>
        <p:spPr>
          <a:xfrm>
            <a:off x="1419080" y="4753039"/>
            <a:ext cx="21148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회원가입</a:t>
            </a:r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 err="1"/>
              <a:t>메인화면</a:t>
            </a:r>
            <a:endParaRPr lang="ko-KR" altLang="en-US" sz="15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78BBCC-1D0E-4B26-8929-10BD905DEED9}"/>
              </a:ext>
            </a:extLst>
          </p:cNvPr>
          <p:cNvSpPr txBox="1"/>
          <p:nvPr/>
        </p:nvSpPr>
        <p:spPr>
          <a:xfrm>
            <a:off x="6396989" y="3737234"/>
            <a:ext cx="25489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영화 리스트</a:t>
            </a:r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평가</a:t>
            </a:r>
            <a:r>
              <a:rPr lang="en-US" altLang="ko-KR" sz="1500" dirty="0"/>
              <a:t>, </a:t>
            </a:r>
            <a:r>
              <a:rPr lang="ko-KR" altLang="en-US" sz="1500" dirty="0"/>
              <a:t>수정 및 영화추가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F80A1C-1FAD-4517-B427-F3EBE61980BA}"/>
              </a:ext>
            </a:extLst>
          </p:cNvPr>
          <p:cNvSpPr txBox="1"/>
          <p:nvPr/>
        </p:nvSpPr>
        <p:spPr>
          <a:xfrm>
            <a:off x="6396989" y="4804642"/>
            <a:ext cx="23660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영화 리스트</a:t>
            </a:r>
            <a:endParaRPr lang="en-US" altLang="ko-K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500" dirty="0"/>
              <a:t>평가</a:t>
            </a:r>
            <a:r>
              <a:rPr lang="en-US" altLang="ko-KR" sz="1500" dirty="0"/>
              <a:t>, </a:t>
            </a:r>
            <a:r>
              <a:rPr lang="ko-KR" altLang="en-US" sz="1500" dirty="0"/>
              <a:t>수정 및 영화추가</a:t>
            </a:r>
          </a:p>
        </p:txBody>
      </p:sp>
    </p:spTree>
    <p:extLst>
      <p:ext uri="{BB962C8B-B14F-4D97-AF65-F5344CB8AC3E}">
        <p14:creationId xmlns:p14="http://schemas.microsoft.com/office/powerpoint/2010/main" val="4127078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675466"/>
            <a:ext cx="7509933" cy="395393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Summarize your project. </a:t>
            </a:r>
          </a:p>
          <a:p>
            <a:pPr lvl="1"/>
            <a:r>
              <a:rPr lang="en-US" dirty="0"/>
              <a:t>Project completion level, cool features, …</a:t>
            </a:r>
          </a:p>
          <a:p>
            <a:pPr lvl="1"/>
            <a:r>
              <a:rPr lang="en-US" dirty="0"/>
              <a:t>Evaluation criteria:</a:t>
            </a:r>
          </a:p>
          <a:p>
            <a:pPr lvl="2"/>
            <a:r>
              <a:rPr lang="en-US" altLang="en-US" dirty="0"/>
              <a:t>Web support of required functionalities developed in Phase 3</a:t>
            </a:r>
            <a:r>
              <a:rPr lang="en-US" dirty="0"/>
              <a:t>: (</a:t>
            </a:r>
            <a:r>
              <a:rPr lang="en-US" dirty="0">
                <a:solidFill>
                  <a:srgbClr val="FF0000"/>
                </a:solidFill>
              </a:rPr>
              <a:t>O </a:t>
            </a:r>
            <a:r>
              <a:rPr lang="en-US" dirty="0"/>
              <a:t>/ X)</a:t>
            </a:r>
          </a:p>
          <a:p>
            <a:pPr lvl="2"/>
            <a:r>
              <a:rPr lang="en-US" altLang="en-US" dirty="0"/>
              <a:t>Concurrency control support: (</a:t>
            </a:r>
            <a:r>
              <a:rPr lang="en-US" dirty="0"/>
              <a:t>O /</a:t>
            </a:r>
            <a:r>
              <a:rPr lang="en-US" dirty="0">
                <a:solidFill>
                  <a:srgbClr val="FF0000"/>
                </a:solidFill>
              </a:rPr>
              <a:t> X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Recommendation service: (</a:t>
            </a:r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dirty="0"/>
              <a:t> / X)</a:t>
            </a:r>
          </a:p>
          <a:p>
            <a:pPr lvl="2"/>
            <a:r>
              <a:rPr lang="en-US" dirty="0"/>
              <a:t>Source code repository: (</a:t>
            </a:r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dirty="0"/>
              <a:t> / X) </a:t>
            </a:r>
          </a:p>
          <a:p>
            <a:pPr lvl="2"/>
            <a:r>
              <a:rPr lang="en-US" dirty="0"/>
              <a:t>Optional technologies:</a:t>
            </a:r>
          </a:p>
          <a:p>
            <a:pPr lvl="3"/>
            <a:r>
              <a:rPr lang="en-US" dirty="0"/>
              <a:t>Describe what other technologies you used</a:t>
            </a:r>
          </a:p>
          <a:p>
            <a:pPr lvl="2"/>
            <a:r>
              <a:rPr lang="en-US" dirty="0"/>
              <a:t>README file: (</a:t>
            </a:r>
            <a:r>
              <a:rPr lang="en-US" dirty="0">
                <a:solidFill>
                  <a:srgbClr val="FF0000"/>
                </a:solidFill>
              </a:rPr>
              <a:t>O</a:t>
            </a:r>
            <a:r>
              <a:rPr lang="en-US" dirty="0"/>
              <a:t> / X)</a:t>
            </a:r>
          </a:p>
          <a:p>
            <a:pPr lvl="3"/>
            <a:r>
              <a:rPr lang="en-US" dirty="0"/>
              <a:t>Describe in your README how to execute your code, what environments to be configured, and so forth, for testing your code.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Description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50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Functionalities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86086" y="6268092"/>
            <a:ext cx="3786690" cy="365125"/>
          </a:xfrm>
        </p:spPr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637" y="6432725"/>
            <a:ext cx="3786691" cy="365125"/>
          </a:xfrm>
        </p:spPr>
        <p:txBody>
          <a:bodyPr/>
          <a:lstStyle/>
          <a:p>
            <a:r>
              <a:rPr lang="en-US" dirty="0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BB2C5D-2988-4FC4-A976-E03D9B13BA0C}"/>
              </a:ext>
            </a:extLst>
          </p:cNvPr>
          <p:cNvSpPr txBox="1"/>
          <p:nvPr/>
        </p:nvSpPr>
        <p:spPr>
          <a:xfrm>
            <a:off x="562982" y="1760087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1. </a:t>
            </a:r>
            <a:r>
              <a:rPr lang="ko-KR" altLang="en-US" sz="2000" dirty="0"/>
              <a:t>회원 관련 기능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D9A870-C715-48BE-9E63-732490B55121}"/>
              </a:ext>
            </a:extLst>
          </p:cNvPr>
          <p:cNvSpPr txBox="1"/>
          <p:nvPr/>
        </p:nvSpPr>
        <p:spPr>
          <a:xfrm>
            <a:off x="762000" y="2152361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1-1. </a:t>
            </a:r>
            <a:r>
              <a:rPr lang="ko-KR" altLang="en-US" dirty="0"/>
              <a:t>로그인 창</a:t>
            </a:r>
            <a:r>
              <a:rPr lang="en-US" altLang="ko-KR" dirty="0"/>
              <a:t>(1-D)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121A4C-9F96-4511-A511-77099C813C27}"/>
              </a:ext>
            </a:extLst>
          </p:cNvPr>
          <p:cNvSpPr txBox="1"/>
          <p:nvPr/>
        </p:nvSpPr>
        <p:spPr>
          <a:xfrm>
            <a:off x="914400" y="2483080"/>
            <a:ext cx="2514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DB</a:t>
            </a:r>
            <a:r>
              <a:rPr lang="ko-KR" altLang="en-US" sz="1100" dirty="0"/>
              <a:t>에 저장된 아이디 비밀번호 동일 시 로그인 후 메인 화면으로 </a:t>
            </a:r>
            <a:r>
              <a:rPr lang="ko-KR" altLang="en-US" sz="1100" dirty="0" err="1"/>
              <a:t>넘어감</a:t>
            </a:r>
            <a:endParaRPr lang="ko-KR" altLang="en-US" sz="11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ABAA4B3-261D-4C2F-91C6-15361AF6D2D5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245"/>
          <a:stretch/>
        </p:blipFill>
        <p:spPr>
          <a:xfrm>
            <a:off x="914400" y="2955680"/>
            <a:ext cx="2880000" cy="1080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6651F3E-FA45-45B4-9471-AAF80BA2FEE3}"/>
              </a:ext>
            </a:extLst>
          </p:cNvPr>
          <p:cNvSpPr txBox="1"/>
          <p:nvPr/>
        </p:nvSpPr>
        <p:spPr>
          <a:xfrm>
            <a:off x="762000" y="3932856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1-2. </a:t>
            </a:r>
            <a:r>
              <a:rPr lang="ko-KR" altLang="en-US" dirty="0"/>
              <a:t>회원가입 창</a:t>
            </a:r>
            <a:r>
              <a:rPr lang="en-US" altLang="ko-KR" dirty="0"/>
              <a:t>(1-A) 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EA1B2A2-26C4-46BF-80F5-F2184D14CA5B}"/>
              </a:ext>
            </a:extLst>
          </p:cNvPr>
          <p:cNvSpPr txBox="1"/>
          <p:nvPr/>
        </p:nvSpPr>
        <p:spPr>
          <a:xfrm>
            <a:off x="914400" y="4267712"/>
            <a:ext cx="251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DB</a:t>
            </a:r>
            <a:r>
              <a:rPr lang="ko-KR" altLang="en-US" sz="1100" dirty="0"/>
              <a:t>에 기입된 정보들이 저장됨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E956A774-310C-482D-AD5B-6305C205F3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156"/>
          <a:stretch/>
        </p:blipFill>
        <p:spPr>
          <a:xfrm>
            <a:off x="930000" y="4571888"/>
            <a:ext cx="2880000" cy="1879220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33E68244-FE8D-4574-BEB9-8B2DFB76C4A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712"/>
          <a:stretch/>
        </p:blipFill>
        <p:spPr>
          <a:xfrm>
            <a:off x="5310678" y="3798148"/>
            <a:ext cx="2880000" cy="183908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D0B0BC46-68AD-44F3-BBA8-772DDED473DD}"/>
              </a:ext>
            </a:extLst>
          </p:cNvPr>
          <p:cNvSpPr txBox="1"/>
          <p:nvPr/>
        </p:nvSpPr>
        <p:spPr>
          <a:xfrm>
            <a:off x="5036178" y="2956197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1-3. </a:t>
            </a:r>
            <a:r>
              <a:rPr lang="ko-KR" altLang="en-US" dirty="0"/>
              <a:t>회원 정보 수정</a:t>
            </a:r>
            <a:r>
              <a:rPr lang="en-US" altLang="ko-KR" dirty="0"/>
              <a:t> </a:t>
            </a:r>
            <a:r>
              <a:rPr lang="ko-KR" altLang="en-US" dirty="0"/>
              <a:t>창</a:t>
            </a:r>
            <a:r>
              <a:rPr lang="en-US" altLang="ko-KR" dirty="0"/>
              <a:t>(1 - B C</a:t>
            </a:r>
            <a:r>
              <a:rPr lang="ko-KR" altLang="en-US" dirty="0"/>
              <a:t> </a:t>
            </a:r>
            <a:r>
              <a:rPr lang="en-US" altLang="ko-KR" dirty="0"/>
              <a:t>E)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27DEFF-A2FD-4530-999C-89FCF4812D63}"/>
              </a:ext>
            </a:extLst>
          </p:cNvPr>
          <p:cNvSpPr txBox="1"/>
          <p:nvPr/>
        </p:nvSpPr>
        <p:spPr>
          <a:xfrm>
            <a:off x="5349602" y="3323587"/>
            <a:ext cx="2514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회원 정보 수정</a:t>
            </a:r>
            <a:r>
              <a:rPr lang="en-US" altLang="ko-KR" sz="1100" dirty="0"/>
              <a:t>, </a:t>
            </a:r>
            <a:r>
              <a:rPr lang="ko-KR" altLang="en-US" sz="1100" dirty="0"/>
              <a:t>비밀 번호수정</a:t>
            </a:r>
            <a:r>
              <a:rPr lang="en-US" altLang="ko-KR" sz="1100" dirty="0"/>
              <a:t>, </a:t>
            </a:r>
            <a:r>
              <a:rPr lang="ko-KR" altLang="en-US" sz="1100" dirty="0"/>
              <a:t>회원 탈퇴까지 모두 가능</a:t>
            </a:r>
          </a:p>
        </p:txBody>
      </p:sp>
    </p:spTree>
    <p:extLst>
      <p:ext uri="{BB962C8B-B14F-4D97-AF65-F5344CB8AC3E}">
        <p14:creationId xmlns:p14="http://schemas.microsoft.com/office/powerpoint/2010/main" val="257677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Functionalities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86086" y="6268092"/>
            <a:ext cx="3786690" cy="365125"/>
          </a:xfrm>
        </p:spPr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637" y="6432725"/>
            <a:ext cx="3786691" cy="365125"/>
          </a:xfrm>
        </p:spPr>
        <p:txBody>
          <a:bodyPr/>
          <a:lstStyle/>
          <a:p>
            <a:r>
              <a:rPr lang="en-US" dirty="0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BB2C5D-2988-4FC4-A976-E03D9B13BA0C}"/>
              </a:ext>
            </a:extLst>
          </p:cNvPr>
          <p:cNvSpPr txBox="1"/>
          <p:nvPr/>
        </p:nvSpPr>
        <p:spPr>
          <a:xfrm>
            <a:off x="562982" y="1760087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2. </a:t>
            </a:r>
            <a:r>
              <a:rPr lang="ko-KR" altLang="en-US" sz="2000" dirty="0"/>
              <a:t>영상물 관련 기능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8EA7C393-E425-4BFB-89FA-71A90D104760}"/>
              </a:ext>
            </a:extLst>
          </p:cNvPr>
          <p:cNvGrpSpPr/>
          <p:nvPr/>
        </p:nvGrpSpPr>
        <p:grpSpPr>
          <a:xfrm>
            <a:off x="254169" y="2152361"/>
            <a:ext cx="3429000" cy="761606"/>
            <a:chOff x="762000" y="2152361"/>
            <a:chExt cx="3429000" cy="76160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0D9A870-C715-48BE-9E63-732490B55121}"/>
                </a:ext>
              </a:extLst>
            </p:cNvPr>
            <p:cNvSpPr txBox="1"/>
            <p:nvPr/>
          </p:nvSpPr>
          <p:spPr>
            <a:xfrm>
              <a:off x="762000" y="2152361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2-1. </a:t>
              </a:r>
              <a:r>
                <a:rPr lang="ko-KR" altLang="en-US" dirty="0"/>
                <a:t>메인 창</a:t>
              </a:r>
              <a:r>
                <a:rPr lang="en-US" altLang="ko-KR" dirty="0"/>
                <a:t>(2-A)</a:t>
              </a:r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121A4C-9F96-4511-A511-77099C813C27}"/>
                </a:ext>
              </a:extLst>
            </p:cNvPr>
            <p:cNvSpPr txBox="1"/>
            <p:nvPr/>
          </p:nvSpPr>
          <p:spPr>
            <a:xfrm>
              <a:off x="914400" y="2483080"/>
              <a:ext cx="25146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로그인 후에 모든 영상물을 볼 수 있는 창으로 </a:t>
              </a:r>
              <a:r>
                <a:rPr lang="ko-KR" altLang="en-US" sz="1100" dirty="0" err="1"/>
                <a:t>넘어감</a:t>
              </a:r>
              <a:endParaRPr lang="ko-KR" altLang="en-US" sz="1100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4404A1D-09A0-462B-BB49-23D498DCEC96}"/>
              </a:ext>
            </a:extLst>
          </p:cNvPr>
          <p:cNvGrpSpPr/>
          <p:nvPr/>
        </p:nvGrpSpPr>
        <p:grpSpPr>
          <a:xfrm>
            <a:off x="3266388" y="2115690"/>
            <a:ext cx="3429000" cy="921329"/>
            <a:chOff x="762000" y="3932856"/>
            <a:chExt cx="3429000" cy="921329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6651F3E-FA45-45B4-9471-AAF80BA2FEE3}"/>
                </a:ext>
              </a:extLst>
            </p:cNvPr>
            <p:cNvSpPr txBox="1"/>
            <p:nvPr/>
          </p:nvSpPr>
          <p:spPr>
            <a:xfrm>
              <a:off x="762000" y="3932856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2-2. </a:t>
              </a:r>
              <a:r>
                <a:rPr lang="ko-KR" altLang="en-US" dirty="0"/>
                <a:t>검색 창</a:t>
              </a:r>
              <a:r>
                <a:rPr lang="en-US" altLang="ko-KR" dirty="0"/>
                <a:t>(2-B</a:t>
              </a:r>
              <a:r>
                <a:rPr lang="ko-KR" altLang="en-US" dirty="0"/>
                <a:t> </a:t>
              </a:r>
              <a:r>
                <a:rPr lang="en-US" altLang="ko-KR" dirty="0"/>
                <a:t>C E) </a:t>
              </a:r>
              <a:endParaRPr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EA1B2A2-26C4-46BF-80F5-F2184D14CA5B}"/>
                </a:ext>
              </a:extLst>
            </p:cNvPr>
            <p:cNvSpPr txBox="1"/>
            <p:nvPr/>
          </p:nvSpPr>
          <p:spPr>
            <a:xfrm>
              <a:off x="837256" y="4254021"/>
              <a:ext cx="251460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- </a:t>
              </a:r>
              <a:r>
                <a:rPr lang="ko-KR" altLang="en-US" sz="1100" dirty="0"/>
                <a:t>제목으로 검색</a:t>
              </a:r>
              <a:r>
                <a:rPr lang="en-US" altLang="ko-KR" sz="1100" dirty="0"/>
                <a:t>, </a:t>
              </a:r>
            </a:p>
            <a:p>
              <a:r>
                <a:rPr lang="ko-KR" altLang="en-US" sz="1100" dirty="0"/>
                <a:t>   조건</a:t>
              </a:r>
              <a:r>
                <a:rPr lang="en-US" altLang="ko-KR" sz="1100" dirty="0"/>
                <a:t>(Type, Genre, Version)</a:t>
              </a:r>
              <a:r>
                <a:rPr lang="ko-KR" altLang="en-US" sz="1100" dirty="0"/>
                <a:t>으로 검색</a:t>
              </a:r>
              <a:endParaRPr lang="en-US" altLang="ko-KR" sz="1100" dirty="0"/>
            </a:p>
            <a:p>
              <a:r>
                <a:rPr lang="en-US" altLang="ko-KR" sz="1100" dirty="0"/>
                <a:t>- </a:t>
              </a:r>
              <a:r>
                <a:rPr lang="ko-KR" altLang="en-US" sz="1100" dirty="0"/>
                <a:t>평가한 영화는 검색 시 검색되지 않음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D949DF5-583C-4298-B369-890025D6CF51}"/>
              </a:ext>
            </a:extLst>
          </p:cNvPr>
          <p:cNvGrpSpPr/>
          <p:nvPr/>
        </p:nvGrpSpPr>
        <p:grpSpPr>
          <a:xfrm>
            <a:off x="6111602" y="2115690"/>
            <a:ext cx="3429000" cy="967554"/>
            <a:chOff x="4953002" y="2626544"/>
            <a:chExt cx="3429000" cy="967554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0B0BC46-68AD-44F3-BBA8-772DDED473DD}"/>
                </a:ext>
              </a:extLst>
            </p:cNvPr>
            <p:cNvSpPr txBox="1"/>
            <p:nvPr/>
          </p:nvSpPr>
          <p:spPr>
            <a:xfrm>
              <a:off x="4953002" y="2626544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2-3. </a:t>
              </a:r>
              <a:r>
                <a:rPr lang="ko-KR" altLang="en-US" dirty="0"/>
                <a:t>상세정보 창</a:t>
              </a:r>
              <a:r>
                <a:rPr lang="en-US" altLang="ko-KR" dirty="0"/>
                <a:t>(2 3 - D)</a:t>
              </a:r>
              <a:endParaRPr lang="ko-KR" alt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527DEFF-A2FD-4530-999C-89FCF4812D63}"/>
                </a:ext>
              </a:extLst>
            </p:cNvPr>
            <p:cNvSpPr txBox="1"/>
            <p:nvPr/>
          </p:nvSpPr>
          <p:spPr>
            <a:xfrm>
              <a:off x="5266426" y="2993934"/>
              <a:ext cx="251460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- </a:t>
              </a:r>
              <a:r>
                <a:rPr lang="ko-KR" altLang="en-US" sz="1100" dirty="0"/>
                <a:t>영화의 정보들이 뜸</a:t>
              </a:r>
              <a:endParaRPr lang="en-US" altLang="ko-KR" sz="1100" dirty="0"/>
            </a:p>
            <a:p>
              <a:r>
                <a:rPr lang="en-US" altLang="ko-KR" sz="1100" dirty="0"/>
                <a:t>- “</a:t>
              </a:r>
              <a:r>
                <a:rPr lang="ko-KR" altLang="en-US" sz="1100" dirty="0"/>
                <a:t>평가하기</a:t>
              </a:r>
              <a:r>
                <a:rPr lang="en-US" altLang="ko-KR" sz="1100" dirty="0"/>
                <a:t>”</a:t>
              </a:r>
              <a:r>
                <a:rPr lang="ko-KR" altLang="en-US" sz="1100" dirty="0"/>
                <a:t>버튼을 누르면</a:t>
              </a:r>
              <a:endParaRPr lang="en-US" altLang="ko-KR" sz="1100" dirty="0"/>
            </a:p>
            <a:p>
              <a:r>
                <a:rPr lang="en-US" altLang="ko-KR" sz="1100" dirty="0"/>
                <a:t>    </a:t>
              </a:r>
              <a:r>
                <a:rPr lang="ko-KR" altLang="en-US" sz="1100" dirty="0"/>
                <a:t>해당 영화에 대해서 평가 가능</a:t>
              </a:r>
            </a:p>
          </p:txBody>
        </p:sp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id="{594C0ED7-06E2-4263-9923-08A6774DA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933978"/>
            <a:ext cx="2880000" cy="258545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69413698-63F1-4FCD-B7B1-D21F2BCFE9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639"/>
          <a:stretch/>
        </p:blipFill>
        <p:spPr>
          <a:xfrm>
            <a:off x="3236088" y="3159348"/>
            <a:ext cx="2880000" cy="1491088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ECBACA4-4AA5-4452-97AE-FB5CA450FB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476" y="3148794"/>
            <a:ext cx="2697300" cy="2385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72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Functionalities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86086" y="6268092"/>
            <a:ext cx="3786690" cy="365125"/>
          </a:xfrm>
        </p:spPr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637" y="6432725"/>
            <a:ext cx="3786691" cy="365125"/>
          </a:xfrm>
        </p:spPr>
        <p:txBody>
          <a:bodyPr/>
          <a:lstStyle/>
          <a:p>
            <a:r>
              <a:rPr lang="en-US" dirty="0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BB2C5D-2988-4FC4-A976-E03D9B13BA0C}"/>
              </a:ext>
            </a:extLst>
          </p:cNvPr>
          <p:cNvSpPr txBox="1"/>
          <p:nvPr/>
        </p:nvSpPr>
        <p:spPr>
          <a:xfrm>
            <a:off x="932328" y="1904163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3. </a:t>
            </a:r>
            <a:r>
              <a:rPr lang="ko-KR" altLang="en-US" sz="2000" dirty="0"/>
              <a:t>평가 관련 기능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E0DD829-9B1F-4A6E-A506-827E458042DA}"/>
              </a:ext>
            </a:extLst>
          </p:cNvPr>
          <p:cNvGrpSpPr/>
          <p:nvPr/>
        </p:nvGrpSpPr>
        <p:grpSpPr>
          <a:xfrm>
            <a:off x="712767" y="2638561"/>
            <a:ext cx="3429000" cy="592329"/>
            <a:chOff x="762000" y="2152361"/>
            <a:chExt cx="3429000" cy="59232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0D9A870-C715-48BE-9E63-732490B55121}"/>
                </a:ext>
              </a:extLst>
            </p:cNvPr>
            <p:cNvSpPr txBox="1"/>
            <p:nvPr/>
          </p:nvSpPr>
          <p:spPr>
            <a:xfrm>
              <a:off x="762000" y="2152361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3-1. </a:t>
              </a:r>
              <a:r>
                <a:rPr lang="ko-KR" altLang="en-US" dirty="0"/>
                <a:t>회원 평가 내역 확인</a:t>
              </a:r>
              <a:r>
                <a:rPr lang="en-US" altLang="ko-KR" dirty="0"/>
                <a:t>(3-A B)</a:t>
              </a:r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121A4C-9F96-4511-A511-77099C813C27}"/>
                </a:ext>
              </a:extLst>
            </p:cNvPr>
            <p:cNvSpPr txBox="1"/>
            <p:nvPr/>
          </p:nvSpPr>
          <p:spPr>
            <a:xfrm>
              <a:off x="914400" y="2483080"/>
              <a:ext cx="25146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자신의 평가내역 확인 가능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CE42B73-7AB6-4F06-B7FE-A16E5BEA22F4}"/>
              </a:ext>
            </a:extLst>
          </p:cNvPr>
          <p:cNvGrpSpPr/>
          <p:nvPr/>
        </p:nvGrpSpPr>
        <p:grpSpPr>
          <a:xfrm>
            <a:off x="5057935" y="2622618"/>
            <a:ext cx="3429000" cy="596466"/>
            <a:chOff x="4985533" y="2151303"/>
            <a:chExt cx="3429000" cy="59646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6651F3E-FA45-45B4-9471-AAF80BA2FEE3}"/>
                </a:ext>
              </a:extLst>
            </p:cNvPr>
            <p:cNvSpPr txBox="1"/>
            <p:nvPr/>
          </p:nvSpPr>
          <p:spPr>
            <a:xfrm>
              <a:off x="4985533" y="2151303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3-2. </a:t>
              </a:r>
              <a:r>
                <a:rPr lang="ko-KR" altLang="en-US" dirty="0"/>
                <a:t>관리자 평가 내역 화인</a:t>
              </a:r>
              <a:r>
                <a:rPr lang="en-US" altLang="ko-KR" dirty="0"/>
                <a:t>(3-A C) </a:t>
              </a:r>
              <a:endParaRPr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EA1B2A2-26C4-46BF-80F5-F2184D14CA5B}"/>
                </a:ext>
              </a:extLst>
            </p:cNvPr>
            <p:cNvSpPr txBox="1"/>
            <p:nvPr/>
          </p:nvSpPr>
          <p:spPr>
            <a:xfrm>
              <a:off x="5137932" y="2486159"/>
              <a:ext cx="287999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모든 평가내역 확인 가능</a:t>
              </a: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87A2053D-8B45-4B0A-8442-1B318EB20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567" y="3373825"/>
            <a:ext cx="2880000" cy="256977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2CD3974-09EC-42EF-8C6C-5F72FB5016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2433" y="3350213"/>
            <a:ext cx="2880000" cy="259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407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Functionalities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86086" y="6268092"/>
            <a:ext cx="3786690" cy="365125"/>
          </a:xfrm>
        </p:spPr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637" y="6432725"/>
            <a:ext cx="3786691" cy="365125"/>
          </a:xfrm>
        </p:spPr>
        <p:txBody>
          <a:bodyPr/>
          <a:lstStyle/>
          <a:p>
            <a:r>
              <a:rPr lang="en-US" dirty="0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BB2C5D-2988-4FC4-A976-E03D9B13BA0C}"/>
              </a:ext>
            </a:extLst>
          </p:cNvPr>
          <p:cNvSpPr txBox="1"/>
          <p:nvPr/>
        </p:nvSpPr>
        <p:spPr>
          <a:xfrm>
            <a:off x="847567" y="172172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4. </a:t>
            </a:r>
            <a:r>
              <a:rPr lang="ko-KR" altLang="en-US" sz="2000" dirty="0"/>
              <a:t>관리자 기능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E0DD829-9B1F-4A6E-A506-827E458042DA}"/>
              </a:ext>
            </a:extLst>
          </p:cNvPr>
          <p:cNvGrpSpPr/>
          <p:nvPr/>
        </p:nvGrpSpPr>
        <p:grpSpPr>
          <a:xfrm>
            <a:off x="712767" y="2122760"/>
            <a:ext cx="3429000" cy="592329"/>
            <a:chOff x="762000" y="2152361"/>
            <a:chExt cx="3429000" cy="592329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0D9A870-C715-48BE-9E63-732490B55121}"/>
                </a:ext>
              </a:extLst>
            </p:cNvPr>
            <p:cNvSpPr txBox="1"/>
            <p:nvPr/>
          </p:nvSpPr>
          <p:spPr>
            <a:xfrm>
              <a:off x="762000" y="2152361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4-1. </a:t>
              </a:r>
              <a:r>
                <a:rPr lang="ko-KR" altLang="en-US" dirty="0"/>
                <a:t>영상물 등록</a:t>
              </a:r>
              <a:r>
                <a:rPr lang="en-US" altLang="ko-KR" dirty="0"/>
                <a:t>(4-A)</a:t>
              </a:r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E121A4C-9F96-4511-A511-77099C813C27}"/>
                </a:ext>
              </a:extLst>
            </p:cNvPr>
            <p:cNvSpPr txBox="1"/>
            <p:nvPr/>
          </p:nvSpPr>
          <p:spPr>
            <a:xfrm>
              <a:off x="914400" y="2483080"/>
              <a:ext cx="25146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새로운 영상물을 등록할 수 있음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CE42B73-7AB6-4F06-B7FE-A16E5BEA22F4}"/>
              </a:ext>
            </a:extLst>
          </p:cNvPr>
          <p:cNvGrpSpPr/>
          <p:nvPr/>
        </p:nvGrpSpPr>
        <p:grpSpPr>
          <a:xfrm>
            <a:off x="5057935" y="2118623"/>
            <a:ext cx="3429000" cy="596466"/>
            <a:chOff x="4985533" y="2151303"/>
            <a:chExt cx="3429000" cy="596466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6651F3E-FA45-45B4-9471-AAF80BA2FEE3}"/>
                </a:ext>
              </a:extLst>
            </p:cNvPr>
            <p:cNvSpPr txBox="1"/>
            <p:nvPr/>
          </p:nvSpPr>
          <p:spPr>
            <a:xfrm>
              <a:off x="4985533" y="2151303"/>
              <a:ext cx="3429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4-2. </a:t>
              </a:r>
              <a:r>
                <a:rPr lang="ko-KR" altLang="en-US" dirty="0"/>
                <a:t>영상물 수정</a:t>
              </a:r>
              <a:r>
                <a:rPr lang="en-US" altLang="ko-KR" dirty="0"/>
                <a:t>(4-B) </a:t>
              </a:r>
              <a:endParaRPr lang="ko-KR" altLang="en-US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EA1B2A2-26C4-46BF-80F5-F2184D14CA5B}"/>
                </a:ext>
              </a:extLst>
            </p:cNvPr>
            <p:cNvSpPr txBox="1"/>
            <p:nvPr/>
          </p:nvSpPr>
          <p:spPr>
            <a:xfrm>
              <a:off x="5137932" y="2486159"/>
              <a:ext cx="287999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/>
                <a:t>영상물 상세정보 창에서 영상물 수정 가능</a:t>
              </a:r>
              <a:endParaRPr lang="ko-KR" altLang="en-US" sz="1100" dirty="0"/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4E4074FE-51CF-4531-8F60-F9F2A854C9E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410"/>
          <a:stretch/>
        </p:blipFill>
        <p:spPr>
          <a:xfrm>
            <a:off x="701564" y="2770234"/>
            <a:ext cx="2880000" cy="110154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DA9C57AE-2C95-4694-AD37-F85FE0DBA90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125"/>
          <a:stretch/>
        </p:blipFill>
        <p:spPr>
          <a:xfrm>
            <a:off x="5147986" y="4211395"/>
            <a:ext cx="2880000" cy="205669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68B3FADB-202F-4DF2-8767-BBB96AE184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33"/>
          <a:stretch/>
        </p:blipFill>
        <p:spPr>
          <a:xfrm>
            <a:off x="5147986" y="2744834"/>
            <a:ext cx="2880000" cy="137968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CA67A98-02E2-4F10-88BB-3F7F7944781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25"/>
          <a:stretch/>
        </p:blipFill>
        <p:spPr>
          <a:xfrm>
            <a:off x="659034" y="4149921"/>
            <a:ext cx="2880000" cy="212630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72F55F6-FBBA-49C3-95A8-139B562AB778}"/>
              </a:ext>
            </a:extLst>
          </p:cNvPr>
          <p:cNvSpPr txBox="1"/>
          <p:nvPr/>
        </p:nvSpPr>
        <p:spPr>
          <a:xfrm>
            <a:off x="2281734" y="3731808"/>
            <a:ext cx="251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관리자 메인 창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C4650A-684D-45CF-9868-03FC4F5D4197}"/>
              </a:ext>
            </a:extLst>
          </p:cNvPr>
          <p:cNvSpPr txBox="1"/>
          <p:nvPr/>
        </p:nvSpPr>
        <p:spPr>
          <a:xfrm>
            <a:off x="625862" y="6276222"/>
            <a:ext cx="251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영상 등록</a:t>
            </a:r>
            <a:r>
              <a:rPr lang="en-US" altLang="ko-KR" sz="1100" dirty="0"/>
              <a:t>” </a:t>
            </a:r>
            <a:r>
              <a:rPr lang="ko-KR" altLang="en-US" sz="1100" dirty="0"/>
              <a:t>누른 후의 창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A846DB-0467-4824-AE29-3857D705B08C}"/>
              </a:ext>
            </a:extLst>
          </p:cNvPr>
          <p:cNvSpPr txBox="1"/>
          <p:nvPr/>
        </p:nvSpPr>
        <p:spPr>
          <a:xfrm>
            <a:off x="6629400" y="3806561"/>
            <a:ext cx="251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영상물 상세 정보 창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8725E1-B063-4C34-93F7-64BF0DE604AF}"/>
              </a:ext>
            </a:extLst>
          </p:cNvPr>
          <p:cNvSpPr txBox="1"/>
          <p:nvPr/>
        </p:nvSpPr>
        <p:spPr>
          <a:xfrm>
            <a:off x="5101372" y="6267175"/>
            <a:ext cx="25146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수정하기</a:t>
            </a:r>
            <a:r>
              <a:rPr lang="en-US" altLang="ko-KR" sz="1100" dirty="0"/>
              <a:t>” </a:t>
            </a:r>
            <a:r>
              <a:rPr lang="ko-KR" altLang="en-US" sz="1100" dirty="0"/>
              <a:t>누른 후의 창</a:t>
            </a:r>
          </a:p>
        </p:txBody>
      </p:sp>
    </p:spTree>
    <p:extLst>
      <p:ext uri="{BB962C8B-B14F-4D97-AF65-F5344CB8AC3E}">
        <p14:creationId xmlns:p14="http://schemas.microsoft.com/office/powerpoint/2010/main" val="1319380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Features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63672" y="6250164"/>
            <a:ext cx="3786690" cy="365125"/>
          </a:xfrm>
        </p:spPr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684608-4F3A-4D6B-A5D3-87DD289A0506}"/>
              </a:ext>
            </a:extLst>
          </p:cNvPr>
          <p:cNvSpPr txBox="1"/>
          <p:nvPr/>
        </p:nvSpPr>
        <p:spPr>
          <a:xfrm>
            <a:off x="762000" y="2664124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회원가입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3EC7F4E-5E6C-4073-8B2A-9FF23DD01486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279"/>
          <a:stretch/>
        </p:blipFill>
        <p:spPr>
          <a:xfrm>
            <a:off x="627935" y="3195000"/>
            <a:ext cx="3600000" cy="2520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B5E088B-2D57-45F8-A51B-115370A8D75B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946"/>
          <a:stretch/>
        </p:blipFill>
        <p:spPr>
          <a:xfrm>
            <a:off x="642046" y="3195000"/>
            <a:ext cx="3600000" cy="2520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60329DB-A99F-403C-97A1-2E957C78F04D}"/>
              </a:ext>
            </a:extLst>
          </p:cNvPr>
          <p:cNvPicPr>
            <a:picLocks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792"/>
          <a:stretch/>
        </p:blipFill>
        <p:spPr>
          <a:xfrm>
            <a:off x="656157" y="3195000"/>
            <a:ext cx="3600000" cy="252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CB11C66-BBF6-4AF7-9DD3-7CF88F1A55E9}"/>
              </a:ext>
            </a:extLst>
          </p:cNvPr>
          <p:cNvSpPr txBox="1"/>
          <p:nvPr/>
        </p:nvSpPr>
        <p:spPr>
          <a:xfrm>
            <a:off x="5410200" y="2623148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“</a:t>
            </a:r>
            <a:r>
              <a:rPr lang="ko-KR" altLang="en-US" dirty="0"/>
              <a:t>좋아요</a:t>
            </a:r>
            <a:r>
              <a:rPr lang="en-US" altLang="ko-KR" dirty="0"/>
              <a:t>” </a:t>
            </a:r>
            <a:r>
              <a:rPr lang="ko-KR" altLang="en-US" dirty="0"/>
              <a:t>기능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A9631F4-EA32-4739-95F5-1C5C5FDE79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017" y="3447038"/>
            <a:ext cx="3600000" cy="324173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3E0BC2D-0B53-4534-91E7-6E9353195D1B}"/>
              </a:ext>
            </a:extLst>
          </p:cNvPr>
          <p:cNvSpPr txBox="1"/>
          <p:nvPr/>
        </p:nvSpPr>
        <p:spPr>
          <a:xfrm>
            <a:off x="5422900" y="2942668"/>
            <a:ext cx="2971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100" dirty="0"/>
              <a:t>영화를 </a:t>
            </a:r>
            <a:r>
              <a:rPr lang="en-US" altLang="ko-KR" sz="1100" dirty="0"/>
              <a:t>“</a:t>
            </a:r>
            <a:r>
              <a:rPr lang="ko-KR" altLang="en-US" sz="1100" dirty="0"/>
              <a:t>찜</a:t>
            </a:r>
            <a:r>
              <a:rPr lang="en-US" altLang="ko-KR" sz="1100" dirty="0"/>
              <a:t>”</a:t>
            </a:r>
            <a:r>
              <a:rPr lang="ko-KR" altLang="en-US" sz="1100" dirty="0"/>
              <a:t>해놓는 기능</a:t>
            </a:r>
            <a:endParaRPr lang="en-US" altLang="ko-KR" sz="1100" dirty="0"/>
          </a:p>
          <a:p>
            <a:pPr marL="171450" indent="-171450">
              <a:buFontTx/>
              <a:buChar char="-"/>
            </a:pPr>
            <a:r>
              <a:rPr lang="ko-KR" altLang="en-US" sz="1100" dirty="0"/>
              <a:t>이 정보를 기반으로 영화를 추천해줌</a:t>
            </a:r>
          </a:p>
        </p:txBody>
      </p:sp>
    </p:spTree>
    <p:extLst>
      <p:ext uri="{BB962C8B-B14F-4D97-AF65-F5344CB8AC3E}">
        <p14:creationId xmlns:p14="http://schemas.microsoft.com/office/powerpoint/2010/main" val="121582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93638" y="1981200"/>
            <a:ext cx="4669367" cy="533399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좋아요 기능에 맞춘 영화 추천</a:t>
            </a:r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Recommendation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10</a:t>
            </a:fld>
            <a:endParaRPr 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C6F0C08-BC68-4247-B9BA-A6FC00FAD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981"/>
          <a:stretch/>
        </p:blipFill>
        <p:spPr>
          <a:xfrm>
            <a:off x="968100" y="3922428"/>
            <a:ext cx="2880000" cy="9543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8ADD62-CDD8-4F91-B2D2-CED34AF86648}"/>
              </a:ext>
            </a:extLst>
          </p:cNvPr>
          <p:cNvSpPr txBox="1"/>
          <p:nvPr/>
        </p:nvSpPr>
        <p:spPr>
          <a:xfrm>
            <a:off x="617400" y="2824353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“</a:t>
            </a:r>
            <a:r>
              <a:rPr lang="ko-KR" altLang="en-US" dirty="0"/>
              <a:t>좋아요</a:t>
            </a:r>
            <a:r>
              <a:rPr lang="en-US" altLang="ko-KR" dirty="0"/>
              <a:t>” </a:t>
            </a:r>
            <a:r>
              <a:rPr lang="ko-KR" altLang="en-US" dirty="0"/>
              <a:t>누른 기록이 없는 사람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1A0911-3831-4218-B8DA-25669134B1B7}"/>
              </a:ext>
            </a:extLst>
          </p:cNvPr>
          <p:cNvSpPr txBox="1"/>
          <p:nvPr/>
        </p:nvSpPr>
        <p:spPr>
          <a:xfrm>
            <a:off x="4945200" y="2824353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“</a:t>
            </a:r>
            <a:r>
              <a:rPr lang="ko-KR" altLang="en-US" dirty="0"/>
              <a:t>좋아요</a:t>
            </a:r>
            <a:r>
              <a:rPr lang="en-US" altLang="ko-KR" dirty="0"/>
              <a:t>” </a:t>
            </a:r>
            <a:r>
              <a:rPr lang="ko-KR" altLang="en-US" dirty="0"/>
              <a:t>누른 기록이 있는 사람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78B199-FD6E-4AC2-BEE6-9DE9BE292E7C}"/>
              </a:ext>
            </a:extLst>
          </p:cNvPr>
          <p:cNvSpPr txBox="1"/>
          <p:nvPr/>
        </p:nvSpPr>
        <p:spPr>
          <a:xfrm>
            <a:off x="980800" y="3266229"/>
            <a:ext cx="2880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/>
              <a:t>전체 영상물에서 평점이 가장 높은 </a:t>
            </a:r>
            <a:r>
              <a:rPr lang="en-US" altLang="ko-KR" sz="1300" dirty="0"/>
              <a:t>5</a:t>
            </a:r>
            <a:r>
              <a:rPr lang="ko-KR" altLang="en-US" sz="1300" dirty="0"/>
              <a:t>개를 추천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49135C-21AC-498D-898A-206156CFF39F}"/>
              </a:ext>
            </a:extLst>
          </p:cNvPr>
          <p:cNvSpPr txBox="1"/>
          <p:nvPr/>
        </p:nvSpPr>
        <p:spPr>
          <a:xfrm>
            <a:off x="5283200" y="3218438"/>
            <a:ext cx="28800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- “</a:t>
            </a:r>
            <a:r>
              <a:rPr lang="ko-KR" altLang="en-US" sz="1300" dirty="0"/>
              <a:t>좋아요</a:t>
            </a:r>
            <a:r>
              <a:rPr lang="en-US" altLang="ko-KR" sz="1300" dirty="0"/>
              <a:t>”</a:t>
            </a:r>
            <a:r>
              <a:rPr lang="ko-KR" altLang="en-US" sz="1300" dirty="0"/>
              <a:t> 누른 영화들 중 가장 많은</a:t>
            </a:r>
            <a:endParaRPr lang="en-US" altLang="ko-KR" sz="1300" dirty="0"/>
          </a:p>
          <a:p>
            <a:r>
              <a:rPr lang="ko-KR" altLang="en-US" sz="1300" dirty="0"/>
              <a:t>    장르를 찾음</a:t>
            </a:r>
            <a:endParaRPr lang="en-US" altLang="ko-KR" sz="1300" dirty="0"/>
          </a:p>
          <a:p>
            <a:r>
              <a:rPr lang="en-US" altLang="ko-KR" sz="1300" dirty="0"/>
              <a:t>- </a:t>
            </a:r>
            <a:r>
              <a:rPr lang="ko-KR" altLang="en-US" sz="1300" dirty="0"/>
              <a:t>그 장르 중에서 평점이 높은 </a:t>
            </a:r>
            <a:r>
              <a:rPr lang="en-US" altLang="ko-KR" sz="1300" dirty="0"/>
              <a:t>5</a:t>
            </a:r>
            <a:r>
              <a:rPr lang="ko-KR" altLang="en-US" sz="1300" dirty="0"/>
              <a:t>개를 추천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E186F78-6160-4483-B822-1EB697EEF1B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1193"/>
          <a:stretch/>
        </p:blipFill>
        <p:spPr>
          <a:xfrm>
            <a:off x="5282862" y="4349736"/>
            <a:ext cx="2880000" cy="101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924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675467"/>
            <a:ext cx="7890933" cy="311573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Code development environment</a:t>
            </a:r>
          </a:p>
          <a:p>
            <a:pPr lvl="1"/>
            <a:r>
              <a:rPr lang="en-US" altLang="en-US" dirty="0"/>
              <a:t>Total line of code: 2282</a:t>
            </a:r>
          </a:p>
          <a:p>
            <a:pPr lvl="1"/>
            <a:r>
              <a:rPr lang="en-US" altLang="en-US" dirty="0"/>
              <a:t>OS: Window</a:t>
            </a:r>
          </a:p>
          <a:p>
            <a:pPr lvl="1"/>
            <a:r>
              <a:rPr lang="en-US" altLang="en-US" dirty="0"/>
              <a:t>DBMS: Oracle 12</a:t>
            </a:r>
          </a:p>
          <a:p>
            <a:pPr lvl="1"/>
            <a:r>
              <a:rPr lang="en-US" altLang="en-US" dirty="0"/>
              <a:t>Language: java, oracle</a:t>
            </a:r>
          </a:p>
          <a:p>
            <a:pPr lvl="1"/>
            <a:r>
              <a:rPr lang="en-US" dirty="0"/>
              <a:t>IDE: Eclipse EE(Phase4), Eclipse(Phase3), SQL Developer</a:t>
            </a:r>
          </a:p>
          <a:p>
            <a:pPr lvl="1"/>
            <a:r>
              <a:rPr lang="en-US" dirty="0" err="1"/>
              <a:t>Github</a:t>
            </a:r>
            <a:r>
              <a:rPr lang="en-US" dirty="0"/>
              <a:t> URL: https://github.com/jyn2697/KNUMovieDB_Team7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 of Project Code: Environment Settings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44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Provide an URL on YouTube.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931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72067" y="2675467"/>
            <a:ext cx="7738533" cy="3450696"/>
          </a:xfrm>
        </p:spPr>
        <p:txBody>
          <a:bodyPr>
            <a:normAutofit/>
          </a:bodyPr>
          <a:lstStyle/>
          <a:p>
            <a:r>
              <a:rPr lang="ko-KR" altLang="en-US" dirty="0"/>
              <a:t>개념적 스키마의 중요성</a:t>
            </a:r>
            <a:endParaRPr lang="en-US" altLang="ko-KR" dirty="0"/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en-US" altLang="ko-KR" sz="2000" dirty="0"/>
              <a:t> -  </a:t>
            </a:r>
            <a:r>
              <a:rPr lang="ko-KR" altLang="en-US" sz="2000" dirty="0"/>
              <a:t>데이터의 중복과 복잡도</a:t>
            </a:r>
            <a:r>
              <a:rPr lang="en-US" altLang="ko-KR" sz="2000" dirty="0"/>
              <a:t>, DB</a:t>
            </a:r>
            <a:r>
              <a:rPr lang="ko-KR" altLang="en-US" sz="2000" dirty="0"/>
              <a:t>의 성능을 모두 고려해 모델링 하는 것의 중요성을 학습</a:t>
            </a:r>
            <a:endParaRPr lang="en-US" altLang="ko-KR" dirty="0"/>
          </a:p>
          <a:p>
            <a:r>
              <a:rPr lang="ko-KR" altLang="en-US" dirty="0"/>
              <a:t>개념적 스키마 </a:t>
            </a:r>
            <a:r>
              <a:rPr lang="en-US" altLang="ko-KR" dirty="0"/>
              <a:t>-&gt; </a:t>
            </a:r>
            <a:r>
              <a:rPr lang="ko-KR" altLang="en-US" dirty="0"/>
              <a:t>관계형</a:t>
            </a:r>
            <a:r>
              <a:rPr lang="en-US" altLang="ko-KR" dirty="0"/>
              <a:t> DB</a:t>
            </a:r>
            <a:r>
              <a:rPr lang="ko-KR" altLang="en-US" dirty="0"/>
              <a:t>로 매핑</a:t>
            </a:r>
            <a:endParaRPr lang="en-US" altLang="ko-KR" dirty="0"/>
          </a:p>
          <a:p>
            <a:pPr marL="0" indent="0">
              <a:buNone/>
            </a:pPr>
            <a:endParaRPr lang="en-US" altLang="ko-KR" sz="1200" dirty="0"/>
          </a:p>
          <a:p>
            <a:pPr marL="0" indent="0">
              <a:buNone/>
            </a:pPr>
            <a:r>
              <a:rPr lang="en-US" altLang="ko-KR" sz="1900" dirty="0"/>
              <a:t> - </a:t>
            </a:r>
            <a:r>
              <a:rPr lang="ko-KR" altLang="en-US" sz="1900" dirty="0"/>
              <a:t> </a:t>
            </a:r>
            <a:r>
              <a:rPr lang="en-US" altLang="ko-KR" sz="1900" dirty="0" err="1"/>
              <a:t>sql</a:t>
            </a:r>
            <a:r>
              <a:rPr lang="ko-KR" altLang="en-US" sz="1900" dirty="0"/>
              <a:t>에서 관련 자료들을 </a:t>
            </a:r>
            <a:r>
              <a:rPr lang="en-US" altLang="ko-KR" sz="1900" dirty="0"/>
              <a:t>select </a:t>
            </a:r>
            <a:r>
              <a:rPr lang="ko-KR" altLang="en-US" sz="1900" dirty="0"/>
              <a:t>할 때</a:t>
            </a:r>
            <a:r>
              <a:rPr lang="en-US" altLang="ko-KR" sz="1900" dirty="0"/>
              <a:t>, </a:t>
            </a:r>
            <a:r>
              <a:rPr lang="ko-KR" altLang="en-US" sz="1900" dirty="0"/>
              <a:t>성능을 고려하여 </a:t>
            </a:r>
            <a:r>
              <a:rPr lang="en-US" altLang="ko-KR" sz="1900" dirty="0"/>
              <a:t>table</a:t>
            </a:r>
            <a:r>
              <a:rPr lang="ko-KR" altLang="en-US" sz="1900" dirty="0"/>
              <a:t>을 구성할 수 있음</a:t>
            </a:r>
            <a:endParaRPr lang="en-US" altLang="ko-KR" sz="1900" dirty="0"/>
          </a:p>
          <a:p>
            <a:r>
              <a:rPr lang="en-US" dirty="0"/>
              <a:t> </a:t>
            </a:r>
            <a:r>
              <a:rPr lang="ko-KR" altLang="en-US" dirty="0"/>
              <a:t>이 외의 </a:t>
            </a:r>
            <a:r>
              <a:rPr lang="en-US" altLang="ko-KR" dirty="0"/>
              <a:t>oracle, java application, JDBC</a:t>
            </a:r>
            <a:r>
              <a:rPr lang="ko-KR" altLang="en-US" dirty="0"/>
              <a:t>의 기능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946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12/13/20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Introduction to Databases (Fall 2020)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AAE0F-99B3-48D0-A046-5C3E92F5D84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0191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316</TotalTime>
  <Words>718</Words>
  <Application>Microsoft Office PowerPoint</Application>
  <PresentationFormat>화면 슬라이드 쇼(4:3)</PresentationFormat>
  <Paragraphs>154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HY그래픽M</vt:lpstr>
      <vt:lpstr>맑은 고딕</vt:lpstr>
      <vt:lpstr>Arial</vt:lpstr>
      <vt:lpstr>Calibri</vt:lpstr>
      <vt:lpstr>Candara</vt:lpstr>
      <vt:lpstr>Symbol</vt:lpstr>
      <vt:lpstr>Waveform</vt:lpstr>
      <vt:lpstr>Team 7: KNU Movie DB</vt:lpstr>
      <vt:lpstr>Contents</vt:lpstr>
      <vt:lpstr>Role Summary</vt:lpstr>
      <vt:lpstr>Project Description</vt:lpstr>
      <vt:lpstr>Functionalities</vt:lpstr>
      <vt:lpstr>Functionalities</vt:lpstr>
      <vt:lpstr>Functionalities</vt:lpstr>
      <vt:lpstr>Functionalities</vt:lpstr>
      <vt:lpstr>Features</vt:lpstr>
      <vt:lpstr>Recommendation</vt:lpstr>
      <vt:lpstr>Summary of Project Code: Environment Settings</vt:lpstr>
      <vt:lpstr>Demo</vt:lpstr>
      <vt:lpstr>Lessons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OOO: Project Title</dc:title>
  <dc:creator>Youngkyoon Suh</dc:creator>
  <cp:lastModifiedBy>user</cp:lastModifiedBy>
  <cp:revision>87</cp:revision>
  <dcterms:created xsi:type="dcterms:W3CDTF">2019-06-15T01:16:48Z</dcterms:created>
  <dcterms:modified xsi:type="dcterms:W3CDTF">2020-12-05T17:54:36Z</dcterms:modified>
</cp:coreProperties>
</file>